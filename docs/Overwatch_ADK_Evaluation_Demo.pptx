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43891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2700" b="1">
                <a:solidFill>
                  <a:srgbClr val="111B2E"/>
                </a:solidFill>
                <a:latin typeface="Aptos"/>
              </a:rPr>
              <a:t>Overwatch Mini | AI operations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972800" cy="32004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200" b="0">
                <a:solidFill>
                  <a:srgbClr val="66758B"/>
                </a:solidFill>
                <a:latin typeface="Aptos"/>
              </a:rPr>
              <a:t>One question flows through specialist agents to live operational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8229600" cy="16459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800" b="1">
                <a:solidFill>
                  <a:srgbClr val="66758B"/>
                </a:solidFill>
                <a:latin typeface="Aptos"/>
              </a:rPr>
              <a:t>OVERWATCH MINI  |  GOOGLE ADK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r"/>
            <a:r>
              <a:rPr sz="900" b="1">
                <a:solidFill>
                  <a:srgbClr val="66758B"/>
                </a:solidFill>
                <a:latin typeface="Aptos"/>
              </a:rPr>
              <a:t>1 /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770632"/>
            <a:ext cx="132588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92608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926080"/>
            <a:ext cx="384048" cy="38404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900" b="1">
                <a:solidFill>
                  <a:srgbClr val="4387F5"/>
                </a:solidFill>
                <a:latin typeface="Aptos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3374136"/>
            <a:ext cx="1124712" cy="24688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152238"/>
                </a:solidFill>
                <a:latin typeface="Aptos"/>
              </a:rPr>
              <a:t>User question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0" y="2587752"/>
            <a:ext cx="1828800" cy="1417320"/>
          </a:xfrm>
          <a:prstGeom prst="roundRect">
            <a:avLst>
              <a:gd name="adj" fmla="val 12000"/>
            </a:avLst>
          </a:prstGeom>
          <a:solidFill>
            <a:srgbClr val="1B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67712" y="2807208"/>
            <a:ext cx="1408176" cy="32004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AFC7FF"/>
                </a:solidFill>
                <a:latin typeface="Aptos"/>
              </a:rPr>
              <a:t>ROOT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7712" y="3163824"/>
            <a:ext cx="1408176" cy="493776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ops_assistant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67712" y="3675887"/>
            <a:ext cx="1408176" cy="20116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0">
                <a:solidFill>
                  <a:srgbClr val="D4DEEB"/>
                </a:solidFill>
                <a:latin typeface="Aptos"/>
              </a:rPr>
              <a:t>routes the request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1536192"/>
            <a:ext cx="2331720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73168" y="1728216"/>
            <a:ext cx="1920240" cy="310896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000" b="1">
                <a:solidFill>
                  <a:srgbClr val="66758B"/>
                </a:solidFill>
                <a:latin typeface="Aptos"/>
              </a:rPr>
              <a:t>SPECIALIST AGENTS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2194560"/>
            <a:ext cx="1965960" cy="612648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E5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82896" y="2340864"/>
            <a:ext cx="91440" cy="320040"/>
          </a:xfrm>
          <a:prstGeom prst="rect">
            <a:avLst/>
          </a:prstGeom>
          <a:solidFill>
            <a:srgbClr val="43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47488" y="2267712"/>
            <a:ext cx="1536192" cy="24688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100" b="1">
                <a:solidFill>
                  <a:srgbClr val="152238"/>
                </a:solidFill>
                <a:latin typeface="Aptos"/>
              </a:rPr>
              <a:t>incidents_agent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7488" y="2523744"/>
            <a:ext cx="1536192" cy="18288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900" b="0">
                <a:solidFill>
                  <a:srgbClr val="66758B"/>
                </a:solidFill>
                <a:latin typeface="Aptos"/>
              </a:rPr>
              <a:t>ITSM records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3017520"/>
            <a:ext cx="1965960" cy="612648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E5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82896" y="3163824"/>
            <a:ext cx="91440" cy="320040"/>
          </a:xfrm>
          <a:prstGeom prst="rect">
            <a:avLst/>
          </a:prstGeom>
          <a:solidFill>
            <a:srgbClr val="20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47488" y="3090672"/>
            <a:ext cx="1536192" cy="24688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100" b="1">
                <a:solidFill>
                  <a:srgbClr val="152238"/>
                </a:solidFill>
                <a:latin typeface="Aptos"/>
              </a:rPr>
              <a:t>logs_agent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7488" y="3346703"/>
            <a:ext cx="1536192" cy="18288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900" b="0">
                <a:solidFill>
                  <a:srgbClr val="66758B"/>
                </a:solidFill>
                <a:latin typeface="Aptos"/>
              </a:rPr>
              <a:t>logs &amp; search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0" y="3840480"/>
            <a:ext cx="1965960" cy="612648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E5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82896" y="3986784"/>
            <a:ext cx="91440" cy="320040"/>
          </a:xfrm>
          <a:prstGeom prst="rect">
            <a:avLst/>
          </a:prstGeom>
          <a:solidFill>
            <a:srgbClr val="8B7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47488" y="3913632"/>
            <a:ext cx="1536192" cy="24688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100" b="1">
                <a:solidFill>
                  <a:srgbClr val="152238"/>
                </a:solidFill>
                <a:latin typeface="Aptos"/>
              </a:rPr>
              <a:t>metrics_agent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7488" y="4169664"/>
            <a:ext cx="1536192" cy="18288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900" b="0">
                <a:solidFill>
                  <a:srgbClr val="66758B"/>
                </a:solidFill>
                <a:latin typeface="Aptos"/>
              </a:rPr>
              <a:t>metrics &amp; problems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43800" y="1856231"/>
            <a:ext cx="2103120" cy="2880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63256" y="2048256"/>
            <a:ext cx="1664208" cy="29260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66758B"/>
                </a:solidFill>
                <a:latin typeface="Aptos"/>
              </a:rPr>
              <a:t>MCP CONNECTION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54112" y="2542032"/>
            <a:ext cx="1682496" cy="749808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72983" y="2633472"/>
            <a:ext cx="1444752" cy="24688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4387F5"/>
                </a:solidFill>
                <a:latin typeface="Aptos"/>
              </a:rPr>
              <a:t>ITSM MCP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72983" y="2907792"/>
            <a:ext cx="1444752" cy="20116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0">
                <a:solidFill>
                  <a:srgbClr val="66758B"/>
                </a:solidFill>
                <a:latin typeface="Aptos"/>
              </a:rPr>
              <a:t>5 incident tools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54112" y="3511296"/>
            <a:ext cx="1682496" cy="896112"/>
          </a:xfrm>
          <a:prstGeom prst="roundRect">
            <a:avLst>
              <a:gd name="adj" fmla="val 12000"/>
            </a:avLst>
          </a:prstGeom>
          <a:solidFill>
            <a:srgbClr val="E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72983" y="3602736"/>
            <a:ext cx="1444752" cy="24688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178A72"/>
                </a:solidFill>
                <a:latin typeface="Aptos"/>
              </a:rPr>
              <a:t>Observability MCP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72983" y="3886200"/>
            <a:ext cx="1444752" cy="32004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0">
                <a:solidFill>
                  <a:srgbClr val="66758B"/>
                </a:solidFill>
                <a:latin typeface="Aptos"/>
              </a:rPr>
              <a:t>5 log / metrics tools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54112" y="4498848"/>
            <a:ext cx="1682496" cy="16459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66758B"/>
                </a:solidFill>
                <a:latin typeface="Aptos"/>
              </a:rPr>
              <a:t>MCP exposes tools to agents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95560" y="2103120"/>
            <a:ext cx="1600200" cy="2395728"/>
          </a:xfrm>
          <a:prstGeom prst="roundRect">
            <a:avLst>
              <a:gd name="adj" fmla="val 12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78440" y="2313432"/>
            <a:ext cx="1234440" cy="27432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AFC7FF"/>
                </a:solidFill>
                <a:latin typeface="Aptos"/>
              </a:rPr>
              <a:t>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78440" y="2697480"/>
            <a:ext cx="1234440" cy="34747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Supabase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69296" y="3191256"/>
            <a:ext cx="1261872" cy="1033271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D4DEEB"/>
                </a:solidFill>
                <a:latin typeface="Aptos"/>
              </a:rPr>
              <a:t>PostgreSQL
itsm  |  logs
metrics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737360" y="3291840"/>
            <a:ext cx="274320" cy="0"/>
          </a:xfrm>
          <a:prstGeom prst="line">
            <a:avLst/>
          </a:prstGeom>
          <a:ln w="25400">
            <a:solidFill>
              <a:srgbClr val="438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ight Arrow 42"/>
          <p:cNvSpPr/>
          <p:nvPr/>
        </p:nvSpPr>
        <p:spPr>
          <a:xfrm>
            <a:off x="1828800" y="3209544"/>
            <a:ext cx="246888" cy="164592"/>
          </a:xfrm>
          <a:prstGeom prst="rightArrow">
            <a:avLst/>
          </a:prstGeom>
          <a:solidFill>
            <a:srgbClr val="43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3895344" y="3291840"/>
            <a:ext cx="374904" cy="0"/>
          </a:xfrm>
          <a:prstGeom prst="line">
            <a:avLst/>
          </a:prstGeom>
          <a:ln w="25400">
            <a:solidFill>
              <a:srgbClr val="438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ight Arrow 44"/>
          <p:cNvSpPr/>
          <p:nvPr/>
        </p:nvSpPr>
        <p:spPr>
          <a:xfrm>
            <a:off x="4041648" y="3209544"/>
            <a:ext cx="246888" cy="164592"/>
          </a:xfrm>
          <a:prstGeom prst="rightArrow">
            <a:avLst/>
          </a:prstGeom>
          <a:solidFill>
            <a:srgbClr val="43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4270248" y="2496312"/>
            <a:ext cx="0" cy="1645920"/>
          </a:xfrm>
          <a:prstGeom prst="line">
            <a:avLst/>
          </a:prstGeom>
          <a:ln w="19050">
            <a:solidFill>
              <a:srgbClr val="438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270248" y="2496312"/>
            <a:ext cx="265176" cy="0"/>
          </a:xfrm>
          <a:prstGeom prst="line">
            <a:avLst/>
          </a:prstGeom>
          <a:ln w="21590">
            <a:solidFill>
              <a:srgbClr val="438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ight Arrow 47"/>
          <p:cNvSpPr/>
          <p:nvPr/>
        </p:nvSpPr>
        <p:spPr>
          <a:xfrm>
            <a:off x="4352544" y="2414016"/>
            <a:ext cx="246888" cy="164592"/>
          </a:xfrm>
          <a:prstGeom prst="rightArrow">
            <a:avLst/>
          </a:prstGeom>
          <a:solidFill>
            <a:srgbClr val="43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4270248" y="3319272"/>
            <a:ext cx="265176" cy="0"/>
          </a:xfrm>
          <a:prstGeom prst="line">
            <a:avLst/>
          </a:prstGeom>
          <a:ln w="21590">
            <a:solidFill>
              <a:srgbClr val="438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ight Arrow 49"/>
          <p:cNvSpPr/>
          <p:nvPr/>
        </p:nvSpPr>
        <p:spPr>
          <a:xfrm>
            <a:off x="4352544" y="3236976"/>
            <a:ext cx="246888" cy="164592"/>
          </a:xfrm>
          <a:prstGeom prst="rightArrow">
            <a:avLst/>
          </a:prstGeom>
          <a:solidFill>
            <a:srgbClr val="43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4270248" y="4142232"/>
            <a:ext cx="265176" cy="0"/>
          </a:xfrm>
          <a:prstGeom prst="line">
            <a:avLst/>
          </a:prstGeom>
          <a:ln w="21590">
            <a:solidFill>
              <a:srgbClr val="438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ight Arrow 51"/>
          <p:cNvSpPr/>
          <p:nvPr/>
        </p:nvSpPr>
        <p:spPr>
          <a:xfrm>
            <a:off x="4352544" y="4059936"/>
            <a:ext cx="246888" cy="164592"/>
          </a:xfrm>
          <a:prstGeom prst="rightArrow">
            <a:avLst/>
          </a:prstGeom>
          <a:solidFill>
            <a:srgbClr val="43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6931152" y="3291840"/>
            <a:ext cx="566927" cy="0"/>
          </a:xfrm>
          <a:prstGeom prst="line">
            <a:avLst/>
          </a:prstGeom>
          <a:ln w="25400">
            <a:solidFill>
              <a:srgbClr val="20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ight Arrow 53"/>
          <p:cNvSpPr/>
          <p:nvPr/>
        </p:nvSpPr>
        <p:spPr>
          <a:xfrm>
            <a:off x="7168896" y="3209544"/>
            <a:ext cx="246888" cy="164592"/>
          </a:xfrm>
          <a:prstGeom prst="rightArrow">
            <a:avLst/>
          </a:prstGeom>
          <a:solidFill>
            <a:srgbClr val="20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9674352" y="3291840"/>
            <a:ext cx="475488" cy="0"/>
          </a:xfrm>
          <a:prstGeom prst="line">
            <a:avLst/>
          </a:prstGeom>
          <a:ln w="25400">
            <a:solidFill>
              <a:srgbClr val="20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ight Arrow 55"/>
          <p:cNvSpPr/>
          <p:nvPr/>
        </p:nvSpPr>
        <p:spPr>
          <a:xfrm>
            <a:off x="9875520" y="3209544"/>
            <a:ext cx="246888" cy="164592"/>
          </a:xfrm>
          <a:prstGeom prst="rightArrow">
            <a:avLst/>
          </a:prstGeom>
          <a:solidFill>
            <a:srgbClr val="20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02920" y="5413248"/>
            <a:ext cx="111556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2" y="5522976"/>
            <a:ext cx="1005840" cy="173736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800" b="1">
                <a:solidFill>
                  <a:srgbClr val="4387F5"/>
                </a:solidFill>
                <a:latin typeface="Aptos"/>
              </a:rPr>
              <a:t>AGENTS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2" y="5724144"/>
            <a:ext cx="2240280" cy="22860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52238"/>
                </a:solidFill>
                <a:latin typeface="Aptos"/>
              </a:rPr>
              <a:t>1 root + 3 specialists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66160" y="5522976"/>
            <a:ext cx="1005840" cy="173736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800" b="1">
                <a:solidFill>
                  <a:srgbClr val="20B7A5"/>
                </a:solidFill>
                <a:latin typeface="Aptos"/>
              </a:rPr>
              <a:t>TOOLS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66160" y="5724144"/>
            <a:ext cx="2240280" cy="22860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52238"/>
                </a:solidFill>
                <a:latin typeface="Aptos"/>
              </a:rPr>
              <a:t>10 operational tools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63640" y="5522976"/>
            <a:ext cx="1005840" cy="173736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800" b="1">
                <a:solidFill>
                  <a:srgbClr val="8B75F5"/>
                </a:solidFill>
                <a:latin typeface="Aptos"/>
              </a:rPr>
              <a:t>MCP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3640" y="5724144"/>
            <a:ext cx="2240280" cy="22860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52238"/>
                </a:solidFill>
                <a:latin typeface="Aptos"/>
              </a:rPr>
              <a:t>2 servers connect tools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98280" y="5522976"/>
            <a:ext cx="1005840" cy="173736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800" b="1">
                <a:solidFill>
                  <a:srgbClr val="F4AE4F"/>
                </a:solidFill>
                <a:latin typeface="Aptos"/>
              </a:rPr>
              <a:t>DATA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98280" y="5724144"/>
            <a:ext cx="2240280" cy="22860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52238"/>
                </a:solidFill>
                <a:latin typeface="Aptos"/>
              </a:rPr>
              <a:t>ITSM + logs + metrics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43891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2700" b="1">
                <a:solidFill>
                  <a:srgbClr val="111B2E"/>
                </a:solidFill>
                <a:latin typeface="Aptos"/>
              </a:rPr>
              <a:t>Google ADK | From golden data to a test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972800" cy="32004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200" b="0">
                <a:solidFill>
                  <a:srgbClr val="66758B"/>
                </a:solidFill>
                <a:latin typeface="Aptos"/>
              </a:rPr>
              <a:t>Each eval case gives the agent a realistic question and a reference for comparison.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8229600" cy="16459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800" b="1">
                <a:solidFill>
                  <a:srgbClr val="66758B"/>
                </a:solidFill>
                <a:latin typeface="Aptos"/>
              </a:rPr>
              <a:t>OVERWATCH MINI  |  GOOGLE ADK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r"/>
            <a:r>
              <a:rPr sz="900" b="1">
                <a:solidFill>
                  <a:srgbClr val="66758B"/>
                </a:solidFill>
                <a:latin typeface="Aptos"/>
              </a:rPr>
              <a:t>2 /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2487168" cy="24323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11226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3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12264"/>
            <a:ext cx="457200" cy="45720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2103120" cy="36576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600" b="1">
                <a:solidFill>
                  <a:srgbClr val="111B2E"/>
                </a:solidFill>
                <a:latin typeface="Aptos"/>
              </a:rPr>
              <a:t>Golden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46120"/>
            <a:ext cx="2103120" cy="84124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100" b="0">
                <a:solidFill>
                  <a:srgbClr val="66758B"/>
                </a:solidFill>
                <a:latin typeface="Aptos"/>
              </a:rPr>
              <a:t>Question
Expected answer
Expected tool path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920240"/>
            <a:ext cx="2487168" cy="24323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66160" y="211226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B7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112264"/>
            <a:ext cx="457200" cy="45720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743200"/>
            <a:ext cx="2103120" cy="36576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600" b="1">
                <a:solidFill>
                  <a:srgbClr val="111B2E"/>
                </a:solidFill>
                <a:latin typeface="Aptos"/>
              </a:rPr>
              <a:t>ADK evalset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246120"/>
            <a:ext cx="2103120" cy="84124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100" b="0">
                <a:solidFill>
                  <a:srgbClr val="66758B"/>
                </a:solidFill>
                <a:latin typeface="Aptos"/>
              </a:rPr>
              <a:t>JSON evalset
Cases grouped by topic
Criteria in test_config.json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920240"/>
            <a:ext cx="2487168" cy="24323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46520" y="211226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0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112264"/>
            <a:ext cx="457200" cy="45720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743200"/>
            <a:ext cx="2103120" cy="36576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600" b="1">
                <a:solidFill>
                  <a:srgbClr val="111B2E"/>
                </a:solidFill>
                <a:latin typeface="Aptos"/>
              </a:rPr>
              <a:t>Run the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246120"/>
            <a:ext cx="2103120" cy="84124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100" b="0">
                <a:solidFill>
                  <a:srgbClr val="66758B"/>
                </a:solidFill>
                <a:latin typeface="Aptos"/>
              </a:rPr>
              <a:t>ADK invokes the real
root agent, specialists,
MCP tools and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920240"/>
            <a:ext cx="2487168" cy="24323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26880" y="211226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4A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2112264"/>
            <a:ext cx="457200" cy="45720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743200"/>
            <a:ext cx="2103120" cy="36576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600" b="1">
                <a:solidFill>
                  <a:srgbClr val="111B2E"/>
                </a:solidFill>
                <a:latin typeface="Aptos"/>
              </a:rPr>
              <a:t>Review 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246120"/>
            <a:ext cx="2103120" cy="84124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100" b="0">
                <a:solidFill>
                  <a:srgbClr val="66758B"/>
                </a:solidFill>
                <a:latin typeface="Aptos"/>
              </a:rPr>
              <a:t>Scores per criterion
CSV + summary
Inspect failures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017520" y="3136392"/>
            <a:ext cx="246888" cy="0"/>
          </a:xfrm>
          <a:prstGeom prst="line">
            <a:avLst/>
          </a:prstGeom>
          <a:ln w="25400">
            <a:solidFill>
              <a:srgbClr val="667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ight Arrow 27"/>
          <p:cNvSpPr/>
          <p:nvPr/>
        </p:nvSpPr>
        <p:spPr>
          <a:xfrm>
            <a:off x="3108960" y="3054096"/>
            <a:ext cx="246888" cy="164592"/>
          </a:xfrm>
          <a:prstGeom prst="rightArrow">
            <a:avLst/>
          </a:prstGeom>
          <a:solidFill>
            <a:srgbClr val="667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897880" y="3136392"/>
            <a:ext cx="246888" cy="0"/>
          </a:xfrm>
          <a:prstGeom prst="line">
            <a:avLst/>
          </a:prstGeom>
          <a:ln w="25400">
            <a:solidFill>
              <a:srgbClr val="667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ight Arrow 29"/>
          <p:cNvSpPr/>
          <p:nvPr/>
        </p:nvSpPr>
        <p:spPr>
          <a:xfrm>
            <a:off x="5989320" y="3054096"/>
            <a:ext cx="246888" cy="164592"/>
          </a:xfrm>
          <a:prstGeom prst="rightArrow">
            <a:avLst/>
          </a:prstGeom>
          <a:solidFill>
            <a:srgbClr val="667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8778240" y="3136392"/>
            <a:ext cx="246888" cy="0"/>
          </a:xfrm>
          <a:prstGeom prst="line">
            <a:avLst/>
          </a:prstGeom>
          <a:ln w="25400">
            <a:solidFill>
              <a:srgbClr val="667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ight Arrow 31"/>
          <p:cNvSpPr/>
          <p:nvPr/>
        </p:nvSpPr>
        <p:spPr>
          <a:xfrm>
            <a:off x="8869680" y="3054096"/>
            <a:ext cx="246888" cy="164592"/>
          </a:xfrm>
          <a:prstGeom prst="rightArrow">
            <a:avLst/>
          </a:prstGeom>
          <a:solidFill>
            <a:srgbClr val="667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" y="4828032"/>
            <a:ext cx="10899648" cy="822960"/>
          </a:xfrm>
          <a:prstGeom prst="roundRect">
            <a:avLst>
              <a:gd name="adj" fmla="val 12000"/>
            </a:avLst>
          </a:prstGeom>
          <a:solidFill>
            <a:srgbClr val="1B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4965192"/>
            <a:ext cx="1828800" cy="21031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900" b="1">
                <a:solidFill>
                  <a:srgbClr val="AFC7FF"/>
                </a:solidFill>
                <a:latin typeface="Aptos"/>
              </a:rPr>
              <a:t>WHAT IS IN A GOLDEN CASE?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360" y="4919472"/>
            <a:ext cx="8211312" cy="34747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User prompt  +  expected answer  +  expected tool calls  +  optional session setup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833872"/>
            <a:ext cx="10332720" cy="32004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66758B"/>
                </a:solidFill>
                <a:latin typeface="Aptos"/>
              </a:rPr>
              <a:t>ADK executes the current agent; the reference is a benchmark, not a script that supplies the answer.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43891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2700" b="1">
                <a:solidFill>
                  <a:srgbClr val="111B2E"/>
                </a:solidFill>
                <a:latin typeface="Aptos"/>
              </a:rPr>
              <a:t>Google ADK | Three signals for every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972800" cy="32004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200" b="0">
                <a:solidFill>
                  <a:srgbClr val="66758B"/>
                </a:solidFill>
                <a:latin typeface="Aptos"/>
              </a:rPr>
              <a:t>Current project thresholds are configured in test_config.json; validate them against reviewed examples.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8229600" cy="16459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800" b="1">
                <a:solidFill>
                  <a:srgbClr val="66758B"/>
                </a:solidFill>
                <a:latin typeface="Aptos"/>
              </a:rPr>
              <a:t>OVERWATCH MINI  |  GOOGLE ADK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r"/>
            <a:r>
              <a:rPr sz="900" b="1">
                <a:solidFill>
                  <a:srgbClr val="66758B"/>
                </a:solidFill>
                <a:latin typeface="Aptos"/>
              </a:rPr>
              <a:t>3 /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3383280" cy="2880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4088" y="1856231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43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856231"/>
            <a:ext cx="384048" cy="38404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1828800"/>
            <a:ext cx="2423160" cy="39319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500" b="1">
                <a:solidFill>
                  <a:srgbClr val="111B2E"/>
                </a:solidFill>
                <a:latin typeface="Aptos"/>
              </a:rPr>
              <a:t>Tool trajectory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2432304"/>
            <a:ext cx="1600200" cy="283464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800" b="1">
                <a:solidFill>
                  <a:srgbClr val="66758B"/>
                </a:solidFill>
                <a:latin typeface="Aptos"/>
              </a:rPr>
              <a:t>THRESHOLD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2734056"/>
            <a:ext cx="1554480" cy="585216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3000" b="1">
                <a:solidFill>
                  <a:srgbClr val="4387F5"/>
                </a:solidFill>
                <a:latin typeface="Aptos"/>
              </a:rPr>
              <a:t>1.00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2376" y="3447288"/>
            <a:ext cx="2926080" cy="0"/>
          </a:xfrm>
          <a:prstGeom prst="line">
            <a:avLst/>
          </a:prstGeom>
          <a:ln w="1270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40664" y="3547872"/>
            <a:ext cx="2871216" cy="42976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52238"/>
                </a:solidFill>
                <a:latin typeface="Aptos"/>
              </a:rPr>
              <a:t>Expected tool names
in expected order.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4023360"/>
            <a:ext cx="2871216" cy="36576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900" b="0">
                <a:solidFill>
                  <a:srgbClr val="66758B"/>
                </a:solidFill>
                <a:latin typeface="Aptos"/>
              </a:rPr>
              <a:t>Arguments are ignored in
this configuration.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645920"/>
            <a:ext cx="3383280" cy="2880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61688" y="1856231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8B7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1688" y="1856231"/>
            <a:ext cx="384048" cy="38404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73752" y="1828800"/>
            <a:ext cx="2423160" cy="39319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500" b="1">
                <a:solidFill>
                  <a:srgbClr val="111B2E"/>
                </a:solidFill>
                <a:latin typeface="Aptos"/>
              </a:rPr>
              <a:t>Answer 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8264" y="2432304"/>
            <a:ext cx="1600200" cy="283464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800" b="1">
                <a:solidFill>
                  <a:srgbClr val="66758B"/>
                </a:solidFill>
                <a:latin typeface="Aptos"/>
              </a:rPr>
              <a:t>THRESHOLD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8264" y="2734056"/>
            <a:ext cx="1554480" cy="585216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3000" b="1">
                <a:solidFill>
                  <a:srgbClr val="8B75F5"/>
                </a:solidFill>
                <a:latin typeface="Aptos"/>
              </a:rPr>
              <a:t>0.70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379976" y="3447288"/>
            <a:ext cx="2926080" cy="0"/>
          </a:xfrm>
          <a:prstGeom prst="line">
            <a:avLst/>
          </a:prstGeom>
          <a:ln w="1270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398264" y="3547872"/>
            <a:ext cx="2871216" cy="42976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52238"/>
                </a:solidFill>
                <a:latin typeface="Aptos"/>
              </a:rPr>
              <a:t>LLM judge compares the
answer with the reference.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98264" y="4023360"/>
            <a:ext cx="2871216" cy="36576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900" b="0">
                <a:solidFill>
                  <a:srgbClr val="66758B"/>
                </a:solidFill>
                <a:latin typeface="Aptos"/>
              </a:rPr>
              <a:t>Semantic match, not exact
string equality.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18120" y="1645920"/>
            <a:ext cx="3383280" cy="2880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19288" y="1856231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20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9288" y="1856231"/>
            <a:ext cx="384048" cy="38404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1352" y="1828800"/>
            <a:ext cx="2423160" cy="39319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500" b="1">
                <a:solidFill>
                  <a:srgbClr val="111B2E"/>
                </a:solidFill>
                <a:latin typeface="Aptos"/>
              </a:rPr>
              <a:t>Grounding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55864" y="2432304"/>
            <a:ext cx="1600200" cy="283464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800" b="1">
                <a:solidFill>
                  <a:srgbClr val="66758B"/>
                </a:solidFill>
                <a:latin typeface="Aptos"/>
              </a:rPr>
              <a:t>THRESHOLD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5864" y="2734056"/>
            <a:ext cx="1554480" cy="585216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3000" b="1">
                <a:solidFill>
                  <a:srgbClr val="20B7A5"/>
                </a:solidFill>
                <a:latin typeface="Aptos"/>
              </a:rPr>
              <a:t>0.95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037576" y="3447288"/>
            <a:ext cx="2926080" cy="0"/>
          </a:xfrm>
          <a:prstGeom prst="line">
            <a:avLst/>
          </a:prstGeom>
          <a:ln w="1270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055864" y="3547872"/>
            <a:ext cx="2871216" cy="42976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52238"/>
                </a:solidFill>
                <a:latin typeface="Aptos"/>
              </a:rPr>
              <a:t>LLM judge checks whether
claims are supported.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55864" y="4023360"/>
            <a:ext cx="2871216" cy="36576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900" b="0">
                <a:solidFill>
                  <a:srgbClr val="66758B"/>
                </a:solidFill>
                <a:latin typeface="Aptos"/>
              </a:rPr>
              <a:t>A useful signal, not proof
that every fact is correct.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910328"/>
            <a:ext cx="4663440" cy="676656"/>
          </a:xfrm>
          <a:prstGeom prst="roundRect">
            <a:avLst>
              <a:gd name="adj" fmla="val 12000"/>
            </a:avLst>
          </a:prstGeom>
          <a:solidFill>
            <a:srgbClr val="E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" y="5038344"/>
            <a:ext cx="4242816" cy="402336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178A72"/>
                </a:solidFill>
                <a:latin typeface="Aptos"/>
              </a:rPr>
              <a:t>CASE PASSES when all configured criteria pass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96128" y="4910328"/>
            <a:ext cx="5943600" cy="676656"/>
          </a:xfrm>
          <a:prstGeom prst="roundRect">
            <a:avLst>
              <a:gd name="adj" fmla="val 12000"/>
            </a:avLst>
          </a:prstGeom>
          <a:solidFill>
            <a:srgbClr val="FF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15584" y="5038344"/>
            <a:ext cx="5504688" cy="402336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96611B"/>
                </a:solidFill>
                <a:latin typeface="Aptos"/>
              </a:rPr>
              <a:t>Run  ?  Review failures  ?  Improve  ?  Re-run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815584"/>
            <a:ext cx="10771632" cy="32004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66758B"/>
                </a:solidFill>
                <a:latin typeface="Aptos"/>
              </a:rPr>
              <a:t>Thresholds are cutoffs to calibrate with human-reviewed cases. For critical facts, add exact checks for IDs, counts, and dates.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Overwatch Mini - Google ADK Evaluation Demo</dc:title>
  <dc:subject>Three-slide overview of app architecture and ADK evaluation</dc:subject>
  <dc:creator>Overwatch Mini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